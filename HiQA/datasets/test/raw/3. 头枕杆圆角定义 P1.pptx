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8"/>
  </p:handoutMasterIdLst>
  <p:sldIdLst>
    <p:sldId id="395" r:id="rId3"/>
    <p:sldId id="783" r:id="rId4"/>
    <p:sldId id="803" r:id="rId6"/>
    <p:sldId id="262" r:id="rId7"/>
  </p:sldIdLst>
  <p:sldSz cx="12192000" cy="6858000"/>
  <p:notesSz cx="6797675" cy="9928225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ou Xuping" initials="ZX" lastIdx="1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8AC6"/>
    <a:srgbClr val="0066CC"/>
    <a:srgbClr val="000004"/>
    <a:srgbClr val="FF6600"/>
    <a:srgbClr val="FFFF66"/>
    <a:srgbClr val="206BA4"/>
    <a:srgbClr val="000015"/>
    <a:srgbClr val="EAEAEA"/>
    <a:srgbClr val="000028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3995" autoAdjust="0"/>
  </p:normalViewPr>
  <p:slideViewPr>
    <p:cSldViewPr snapToGrid="0" showGuides="1">
      <p:cViewPr varScale="1">
        <p:scale>
          <a:sx n="107" d="100"/>
          <a:sy n="107" d="100"/>
        </p:scale>
        <p:origin x="-552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5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EA758-75C1-4D1C-BA9A-9A87C372C5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F50E2-B35D-4C68-85BF-EF221F4F22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9D830-C243-41DE-945D-AE453AA008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07F3F-3F86-4A1C-B5E2-35FB4178BB5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极简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cxnSp>
        <p:nvCxnSpPr>
          <p:cNvPr id="20" name="直接连接符 19"/>
          <p:cNvCxnSpPr/>
          <p:nvPr userDrawn="1"/>
        </p:nvCxnSpPr>
        <p:spPr>
          <a:xfrm flipH="1">
            <a:off x="7997371" y="0"/>
            <a:ext cx="1354067" cy="6858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简约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 userDrawn="1"/>
        </p:nvSpPr>
        <p:spPr bwMode="auto">
          <a:xfrm>
            <a:off x="-67573" y="0"/>
            <a:ext cx="9417949" cy="6869340"/>
          </a:xfrm>
          <a:custGeom>
            <a:avLst/>
            <a:gdLst>
              <a:gd name="connsiteX0" fmla="*/ 0 w 10813141"/>
              <a:gd name="connsiteY0" fmla="*/ 6858000 h 6858000"/>
              <a:gd name="connsiteX1" fmla="*/ 1395192 w 10813141"/>
              <a:gd name="connsiteY1" fmla="*/ 0 h 6858000"/>
              <a:gd name="connsiteX2" fmla="*/ 10813141 w 10813141"/>
              <a:gd name="connsiteY2" fmla="*/ 0 h 6858000"/>
              <a:gd name="connsiteX3" fmla="*/ 9417949 w 10813141"/>
              <a:gd name="connsiteY3" fmla="*/ 6858000 h 6858000"/>
              <a:gd name="connsiteX4" fmla="*/ 0 w 10813141"/>
              <a:gd name="connsiteY4" fmla="*/ 6858000 h 6858000"/>
              <a:gd name="connsiteX0-1" fmla="*/ 0 w 9452490"/>
              <a:gd name="connsiteY0-2" fmla="*/ 6846660 h 6858000"/>
              <a:gd name="connsiteX1-3" fmla="*/ 34541 w 9452490"/>
              <a:gd name="connsiteY1-4" fmla="*/ 0 h 6858000"/>
              <a:gd name="connsiteX2-5" fmla="*/ 9452490 w 9452490"/>
              <a:gd name="connsiteY2-6" fmla="*/ 0 h 6858000"/>
              <a:gd name="connsiteX3-7" fmla="*/ 8057298 w 9452490"/>
              <a:gd name="connsiteY3-8" fmla="*/ 6858000 h 6858000"/>
              <a:gd name="connsiteX4-9" fmla="*/ 0 w 9452490"/>
              <a:gd name="connsiteY4-10" fmla="*/ 6846660 h 6858000"/>
              <a:gd name="connsiteX0-11" fmla="*/ 328300 w 9417949"/>
              <a:gd name="connsiteY0-12" fmla="*/ 6846660 h 6858000"/>
              <a:gd name="connsiteX1-13" fmla="*/ 0 w 9417949"/>
              <a:gd name="connsiteY1-14" fmla="*/ 0 h 6858000"/>
              <a:gd name="connsiteX2-15" fmla="*/ 9417949 w 9417949"/>
              <a:gd name="connsiteY2-16" fmla="*/ 0 h 6858000"/>
              <a:gd name="connsiteX3-17" fmla="*/ 8022757 w 9417949"/>
              <a:gd name="connsiteY3-18" fmla="*/ 6858000 h 6858000"/>
              <a:gd name="connsiteX4-19" fmla="*/ 328300 w 9417949"/>
              <a:gd name="connsiteY4-20" fmla="*/ 6846660 h 6858000"/>
              <a:gd name="connsiteX0-21" fmla="*/ 56170 w 9417949"/>
              <a:gd name="connsiteY0-22" fmla="*/ 6869340 h 6869340"/>
              <a:gd name="connsiteX1-23" fmla="*/ 0 w 9417949"/>
              <a:gd name="connsiteY1-24" fmla="*/ 0 h 6869340"/>
              <a:gd name="connsiteX2-25" fmla="*/ 9417949 w 9417949"/>
              <a:gd name="connsiteY2-26" fmla="*/ 0 h 6869340"/>
              <a:gd name="connsiteX3-27" fmla="*/ 8022757 w 9417949"/>
              <a:gd name="connsiteY3-28" fmla="*/ 6858000 h 6869340"/>
              <a:gd name="connsiteX4-29" fmla="*/ 56170 w 9417949"/>
              <a:gd name="connsiteY4-30" fmla="*/ 6869340 h 68693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417949" h="6869340">
                <a:moveTo>
                  <a:pt x="56170" y="6869340"/>
                </a:moveTo>
                <a:lnTo>
                  <a:pt x="0" y="0"/>
                </a:lnTo>
                <a:lnTo>
                  <a:pt x="9417949" y="0"/>
                </a:lnTo>
                <a:lnTo>
                  <a:pt x="8022757" y="6858000"/>
                </a:lnTo>
                <a:lnTo>
                  <a:pt x="56170" y="686934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3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32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33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34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商务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22261" y="1821059"/>
            <a:ext cx="10710995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0 w 10710995"/>
              <a:gd name="connsiteY0-2" fmla="*/ 3240829 h 3252170"/>
              <a:gd name="connsiteX1-3" fmla="*/ 7991 w 10710995"/>
              <a:gd name="connsiteY1-4" fmla="*/ 0 h 3252170"/>
              <a:gd name="connsiteX2-5" fmla="*/ 10710995 w 10710995"/>
              <a:gd name="connsiteY2-6" fmla="*/ 0 h 3252170"/>
              <a:gd name="connsiteX3-7" fmla="*/ 9897953 w 10710995"/>
              <a:gd name="connsiteY3-8" fmla="*/ 3252170 h 3252170"/>
              <a:gd name="connsiteX4-9" fmla="*/ 0 w 10710995"/>
              <a:gd name="connsiteY4-10" fmla="*/ 3240829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10995" h="3252170">
                <a:moveTo>
                  <a:pt x="0" y="3240829"/>
                </a:moveTo>
                <a:cubicBezTo>
                  <a:pt x="2664" y="2160553"/>
                  <a:pt x="5327" y="1080276"/>
                  <a:pt x="7991" y="0"/>
                </a:cubicBezTo>
                <a:lnTo>
                  <a:pt x="10710995" y="0"/>
                </a:lnTo>
                <a:lnTo>
                  <a:pt x="9897953" y="3252170"/>
                </a:lnTo>
                <a:lnTo>
                  <a:pt x="0" y="3240829"/>
                </a:lnTo>
                <a:close/>
              </a:path>
            </a:pathLst>
          </a:custGeom>
          <a:solidFill>
            <a:srgbClr val="D1D2D4">
              <a:alpha val="7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14686 w 10703004"/>
              <a:gd name="connsiteY0-2" fmla="*/ 3252170 h 3252170"/>
              <a:gd name="connsiteX1-3" fmla="*/ 0 w 10703004"/>
              <a:gd name="connsiteY1-4" fmla="*/ 0 h 3252170"/>
              <a:gd name="connsiteX2-5" fmla="*/ 10703004 w 10703004"/>
              <a:gd name="connsiteY2-6" fmla="*/ 0 h 3252170"/>
              <a:gd name="connsiteX3-7" fmla="*/ 9889962 w 10703004"/>
              <a:gd name="connsiteY3-8" fmla="*/ 3252170 h 3252170"/>
              <a:gd name="connsiteX4-9" fmla="*/ 14686 w 10703004"/>
              <a:gd name="connsiteY4-10" fmla="*/ 3252170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52170">
                <a:moveTo>
                  <a:pt x="14686" y="3252170"/>
                </a:moveTo>
                <a:cubicBezTo>
                  <a:pt x="9791" y="2168113"/>
                  <a:pt x="4895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14686" y="325217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7 w 10703004"/>
              <a:gd name="connsiteY0-2" fmla="*/ 3252170 h 3252170"/>
              <a:gd name="connsiteX1-3" fmla="*/ 0 w 10703004"/>
              <a:gd name="connsiteY1-4" fmla="*/ 0 h 3252170"/>
              <a:gd name="connsiteX2-5" fmla="*/ 10703004 w 10703004"/>
              <a:gd name="connsiteY2-6" fmla="*/ 0 h 3252170"/>
              <a:gd name="connsiteX3-7" fmla="*/ 9889962 w 10703004"/>
              <a:gd name="connsiteY3-8" fmla="*/ 3252170 h 3252170"/>
              <a:gd name="connsiteX4-9" fmla="*/ 3347 w 10703004"/>
              <a:gd name="connsiteY4-10" fmla="*/ 3252170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52170">
                <a:moveTo>
                  <a:pt x="3347" y="3252170"/>
                </a:moveTo>
                <a:cubicBezTo>
                  <a:pt x="2231" y="2168113"/>
                  <a:pt x="1116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3347" y="3252170"/>
                </a:lnTo>
                <a:close/>
              </a:path>
            </a:pathLst>
          </a:cu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平行四边形 27"/>
          <p:cNvSpPr/>
          <p:nvPr userDrawn="1"/>
        </p:nvSpPr>
        <p:spPr>
          <a:xfrm>
            <a:off x="2109643" y="580959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0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2415676" y="5725140"/>
            <a:ext cx="9021104" cy="361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  <a:endParaRPr lang="zh-CN" alt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  <a:endParaRPr lang="zh-CN" altLang="en-US" dirty="0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04875" y="1037287"/>
            <a:ext cx="10382250" cy="4885678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2pPr>
            <a:lvl3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3pPr>
            <a:lvl4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4pPr>
            <a:lvl5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4875" y="485180"/>
            <a:ext cx="10382250" cy="34933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b="0" i="0" baseline="0">
                <a:solidFill>
                  <a:srgbClr val="016A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grpSp>
        <p:nvGrpSpPr>
          <p:cNvPr id="8" name="组 7"/>
          <p:cNvGrpSpPr/>
          <p:nvPr userDrawn="1"/>
        </p:nvGrpSpPr>
        <p:grpSpPr>
          <a:xfrm>
            <a:off x="560686" y="604926"/>
            <a:ext cx="197930" cy="110949"/>
            <a:chOff x="456330" y="605220"/>
            <a:chExt cx="197930" cy="110949"/>
          </a:xfrm>
        </p:grpSpPr>
        <p:grpSp>
          <p:nvGrpSpPr>
            <p:cNvPr id="9" name="组 8"/>
            <p:cNvGrpSpPr/>
            <p:nvPr/>
          </p:nvGrpSpPr>
          <p:grpSpPr>
            <a:xfrm rot="2700000">
              <a:off x="456330" y="605220"/>
              <a:ext cx="110948" cy="110948"/>
              <a:chOff x="2178050" y="479425"/>
              <a:chExt cx="193675" cy="193675"/>
            </a:xfrm>
          </p:grpSpPr>
          <p:cxnSp>
            <p:nvCxnSpPr>
              <p:cNvPr id="13" name="直线连接符 12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线连接符 13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" name="组 9"/>
            <p:cNvGrpSpPr/>
            <p:nvPr/>
          </p:nvGrpSpPr>
          <p:grpSpPr>
            <a:xfrm rot="2700000">
              <a:off x="543312" y="605221"/>
              <a:ext cx="110948" cy="110948"/>
              <a:chOff x="2178050" y="479425"/>
              <a:chExt cx="193675" cy="193675"/>
            </a:xfrm>
          </p:grpSpPr>
          <p:cxnSp>
            <p:nvCxnSpPr>
              <p:cNvPr id="11" name="直线连接符 10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线连接符 11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1.pn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AcnFootnote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480" indent="-53848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4375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78205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0668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4333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005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1577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149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0721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*	Footnote</a:t>
            </a:r>
            <a:endParaRPr lang="zh-CN" altLang="zh-CN" sz="1000" b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Source:	Source</a:t>
            </a:r>
            <a:endParaRPr lang="zh-CN" altLang="zh-CN" sz="10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5" name="AcnRoadmap_ID_1121" hidden="1"/>
          <p:cNvSpPr txBox="1">
            <a:spLocks noChangeArrowheads="1"/>
          </p:cNvSpPr>
          <p:nvPr/>
        </p:nvSpPr>
        <p:spPr bwMode="auto">
          <a:xfrm>
            <a:off x="6364820" y="88900"/>
            <a:ext cx="5581649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200" i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Roadmap</a:t>
            </a:r>
            <a:endParaRPr lang="zh-CN" altLang="zh-CN" sz="1200" i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6" name="AcnSubjectTitle_ID_1124" hidden="1"/>
          <p:cNvSpPr txBox="1">
            <a:spLocks noChangeArrowheads="1"/>
          </p:cNvSpPr>
          <p:nvPr/>
        </p:nvSpPr>
        <p:spPr bwMode="auto">
          <a:xfrm>
            <a:off x="239184" y="1420816"/>
            <a:ext cx="931333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600">
                <a:latin typeface="Arial" panose="020B0604020202020204" pitchFamily="34" charset="0"/>
                <a:ea typeface="宋体" panose="02010600030101010101" pitchFamily="2" charset="-122"/>
              </a:rPr>
              <a:t>Subject Title</a:t>
            </a:r>
            <a:endParaRPr lang="zh-CN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7" name="AcnUnitofMeasure_ID_1125" hidden="1"/>
          <p:cNvSpPr txBox="1">
            <a:spLocks noChangeArrowheads="1"/>
          </p:cNvSpPr>
          <p:nvPr/>
        </p:nvSpPr>
        <p:spPr bwMode="auto">
          <a:xfrm>
            <a:off x="239184" y="1697038"/>
            <a:ext cx="9313333" cy="21431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t>Unit of Measure</a:t>
            </a:r>
            <a:endParaRPr lang="zh-CN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AcnStamp_ID_1126" hidden="1"/>
          <p:cNvSpPr>
            <a:spLocks noChangeArrowheads="1"/>
          </p:cNvSpPr>
          <p:nvPr/>
        </p:nvSpPr>
        <p:spPr bwMode="auto">
          <a:xfrm>
            <a:off x="10542750" y="1411288"/>
            <a:ext cx="1403718" cy="26674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>
            <a:noFill/>
            <a:miter lim="800000"/>
          </a:ln>
        </p:spPr>
        <p:txBody>
          <a:bodyPr wrap="none" lIns="0" tIns="25400" rIns="0" bIns="25400">
            <a:spAutoFit/>
          </a:bodyPr>
          <a:lstStyle/>
          <a:p>
            <a:pPr algn="r"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400"/>
              <a:t>MASTER STAMP</a:t>
            </a:r>
            <a:endParaRPr lang="zh-CN" altLang="zh-CN" sz="1400"/>
          </a:p>
        </p:txBody>
      </p:sp>
      <p:cxnSp>
        <p:nvCxnSpPr>
          <p:cNvPr id="3" name="AcnStpConnector_ID_1127" hidden="1"/>
          <p:cNvCxnSpPr>
            <a:cxnSpLocks noChangeShapeType="1"/>
          </p:cNvCxnSpPr>
          <p:nvPr/>
        </p:nvCxnSpPr>
        <p:spPr bwMode="auto">
          <a:xfrm>
            <a:off x="10049935" y="1411288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4" name="AcnStpConnector_ID_1128" hidden="1"/>
          <p:cNvCxnSpPr>
            <a:cxnSpLocks noChangeShapeType="1"/>
          </p:cNvCxnSpPr>
          <p:nvPr/>
        </p:nvCxnSpPr>
        <p:spPr bwMode="auto">
          <a:xfrm>
            <a:off x="10049935" y="1676400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1041" name="AcnFootnote_ID_1129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480" indent="-53848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4375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78205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0668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4333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005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1577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149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0721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*	Footnote</a:t>
            </a:r>
            <a:endParaRPr lang="zh-CN" altLang="zh-CN" sz="1000" b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Source:	Source</a:t>
            </a:r>
            <a:endParaRPr lang="zh-CN" altLang="zh-CN" sz="10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Title Placeholder 32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8" name="平行四边形 17"/>
          <p:cNvSpPr/>
          <p:nvPr/>
        </p:nvSpPr>
        <p:spPr>
          <a:xfrm>
            <a:off x="551384" y="507788"/>
            <a:ext cx="167277" cy="29686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863564" y="1246173"/>
            <a:ext cx="11094677" cy="4930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" name="Rectangle 8"/>
          <p:cNvSpPr txBox="1">
            <a:spLocks noChangeArrowheads="1"/>
          </p:cNvSpPr>
          <p:nvPr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Wingdings" panose="05000000000000000000" pitchFamily="2" charset="2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266700" indent="-26543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2pPr>
      <a:lvl3pPr marL="627380" indent="-2889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8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3pPr>
      <a:lvl4pPr marL="986155" indent="-29718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4pPr>
      <a:lvl5pPr marL="1252855" indent="-2254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5pPr>
      <a:lvl6pPr marL="11684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6pPr>
      <a:lvl7pPr marL="16256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7pPr>
      <a:lvl8pPr marL="20828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8pPr>
      <a:lvl9pPr marL="25400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tags" Target="../tags/tag4.xml"/><Relationship Id="rId4" Type="http://schemas.openxmlformats.org/officeDocument/2006/relationships/image" Target="../media/image4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 </a:t>
            </a:r>
            <a:r>
              <a:rPr lang="zh-CN" altLang="en-US" dirty="0" smtClean="0"/>
              <a:t>金轲     </a:t>
            </a:r>
            <a:r>
              <a:rPr lang="en-US" altLang="zh-CN" dirty="0" smtClean="0"/>
              <a:t>2023-11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ctrTitle" sz="quarter"/>
          </p:nvPr>
        </p:nvSpPr>
        <p:spPr>
          <a:xfrm>
            <a:off x="1045901" y="1981416"/>
            <a:ext cx="11001719" cy="1285883"/>
          </a:xfrm>
        </p:spPr>
        <p:txBody>
          <a:bodyPr/>
          <a:lstStyle/>
          <a:p>
            <a:r>
              <a:rPr lang="zh-CN" altLang="en-US" sz="2800" dirty="0"/>
              <a:t>头枕杆圆角定义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pc="200" dirty="0">
                <a:solidFill>
                  <a:srgbClr val="2683C6"/>
                </a:solidFill>
              </a:rPr>
              <a:t>目录</a:t>
            </a:r>
            <a:endParaRPr lang="zh-CN" altLang="en-US" spc="200" dirty="0">
              <a:solidFill>
                <a:srgbClr val="2683C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3473" y="1363579"/>
            <a:ext cx="2234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3200" spc="200" dirty="0" smtClean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设计要求</a:t>
            </a:r>
            <a:endParaRPr lang="en-US" altLang="zh-CN" sz="3200" spc="200" dirty="0">
              <a:solidFill>
                <a:srgbClr val="2683C6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200" dirty="0" smtClean="0">
                <a:solidFill>
                  <a:srgbClr val="2683C6"/>
                </a:solidFill>
              </a:rPr>
              <a:t>设计要求</a:t>
            </a:r>
            <a:endParaRPr lang="zh-CN" altLang="en-US" spc="200" dirty="0">
              <a:solidFill>
                <a:srgbClr val="2683C6"/>
              </a:solidFill>
            </a:endParaRPr>
          </a:p>
        </p:txBody>
      </p:sp>
      <p:sp>
        <p:nvSpPr>
          <p:cNvPr id="12" name="内容占位符 2"/>
          <p:cNvSpPr txBox="1"/>
          <p:nvPr>
            <p:custDataLst>
              <p:tags r:id="rId1"/>
            </p:custDataLst>
          </p:nvPr>
        </p:nvSpPr>
        <p:spPr>
          <a:xfrm>
            <a:off x="609600" y="1011555"/>
            <a:ext cx="5205730" cy="601345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 marL="266700" indent="-26543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2pPr>
            <a:lvl3pPr marL="627380" indent="-288925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2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3pPr>
            <a:lvl4pPr marL="986155" indent="-29718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4pPr>
            <a:lvl5pPr marL="1252855" indent="-225425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"/>
              <a:defRPr sz="16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5pPr>
            <a:lvl6pPr marL="11684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6pPr>
            <a:lvl7pPr marL="16256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7pPr>
            <a:lvl8pPr marL="20828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8pPr>
            <a:lvl9pPr marL="2540000" indent="-1765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</a:pPr>
            <a:r>
              <a:rPr sz="1200" b="1" u="sng" spc="200" dirty="0" smtClean="0">
                <a:solidFill>
                  <a:srgbClr val="2683C6"/>
                </a:solidFill>
                <a:cs typeface="+mj-cs"/>
                <a:sym typeface="+mn-ea"/>
              </a:rPr>
              <a:t>乘员保护的</a:t>
            </a:r>
            <a:r>
              <a:rPr lang="zh-CN" sz="1200" b="1" u="sng" spc="200" dirty="0" smtClean="0">
                <a:solidFill>
                  <a:srgbClr val="2683C6"/>
                </a:solidFill>
                <a:cs typeface="+mj-cs"/>
                <a:sym typeface="+mn-ea"/>
              </a:rPr>
              <a:t>圆角</a:t>
            </a:r>
            <a:r>
              <a:rPr sz="1200" b="1" u="sng" spc="200" dirty="0" smtClean="0">
                <a:solidFill>
                  <a:srgbClr val="2683C6"/>
                </a:solidFill>
                <a:cs typeface="+mj-cs"/>
                <a:sym typeface="+mn-ea"/>
              </a:rPr>
              <a:t>要求</a:t>
            </a:r>
            <a:endParaRPr sz="1200" b="1" u="sng" spc="200" dirty="0" smtClean="0">
              <a:solidFill>
                <a:srgbClr val="2683C6"/>
              </a:solidFill>
              <a:cs typeface="+mj-cs"/>
              <a:sym typeface="+mn-ea"/>
            </a:endParaRPr>
          </a:p>
          <a:p>
            <a:pPr>
              <a:spcBef>
                <a:spcPct val="0"/>
              </a:spcBef>
            </a:pPr>
            <a:r>
              <a:rPr lang="zh-CN" altLang="en-US" sz="1200" b="1" u="sng" spc="200" dirty="0" smtClean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截图后测量以下参数，看是否满足</a:t>
            </a:r>
            <a:r>
              <a:rPr lang="zh-CN" altLang="en-US" sz="1200" b="1" u="sng" spc="200" dirty="0" smtClean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要求</a:t>
            </a:r>
            <a:endParaRPr lang="zh-CN" altLang="en-US" sz="1200" b="1" u="sng" spc="200" dirty="0" smtClean="0">
              <a:solidFill>
                <a:srgbClr val="2683C6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j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305175" y="5667375"/>
          <a:ext cx="4184015" cy="624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995"/>
                <a:gridCol w="1550670"/>
                <a:gridCol w="1035050"/>
                <a:gridCol w="1003300"/>
              </a:tblGrid>
              <a:tr h="2876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sym typeface="+mn-ea"/>
                        </a:rPr>
                        <a:t>序号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sym typeface="+mn-ea"/>
                        </a:rPr>
                        <a:t> </a:t>
                      </a:r>
                      <a:endParaRPr lang="en-US" altLang="zh-CN" sz="1100" b="0" dirty="0" smtClean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</a:rPr>
                        <a:t>描述</a:t>
                      </a:r>
                      <a:endParaRPr lang="zh-CN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</a:rPr>
                        <a:t>法规</a:t>
                      </a: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</a:rPr>
                        <a:t>要求</a:t>
                      </a:r>
                      <a:endParaRPr lang="zh-CN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 smtClean="0">
                          <a:solidFill>
                            <a:schemeClr val="tx1"/>
                          </a:solidFill>
                          <a:sym typeface="+mn-ea"/>
                        </a:rPr>
                        <a:t>设计目标值</a:t>
                      </a:r>
                      <a:endParaRPr lang="zh-CN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</a:tr>
              <a:tr h="336550">
                <a:tc>
                  <a:txBody>
                    <a:bodyPr/>
                    <a:p>
                      <a:r>
                        <a:rPr lang="en-US" altLang="zh-CN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S8.3a</a:t>
                      </a:r>
                      <a:endParaRPr lang="en-US" altLang="zh-CN" sz="900" b="1" kern="1200" spc="200" dirty="0" smtClean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altLang="zh-CN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 </a:t>
                      </a:r>
                      <a:r>
                        <a:rPr 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UN-R17</a:t>
                      </a:r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圆角要求 </a:t>
                      </a:r>
                      <a:endParaRPr lang="zh-CN" altLang="en-US" sz="900" b="1" kern="1200" spc="200" dirty="0" smtClean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</a:t>
                      </a:r>
                      <a:r>
                        <a:rPr lang="en-US" altLang="zh-CN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R</a:t>
                      </a:r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＞</a:t>
                      </a:r>
                      <a:r>
                        <a:rPr lang="en-US" altLang="zh-CN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3.2mm</a:t>
                      </a:r>
                      <a:endParaRPr lang="en-US" altLang="zh-CN" sz="900" b="1" kern="1200" spc="200" dirty="0" smtClean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R</a:t>
                      </a:r>
                      <a:r>
                        <a:rPr lang="zh-CN" altLang="en-US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＞</a:t>
                      </a:r>
                      <a:r>
                        <a:rPr lang="en-US" altLang="zh-CN" sz="900" b="1" kern="1200" spc="200" dirty="0" smtClean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3.5mm</a:t>
                      </a:r>
                      <a:endParaRPr lang="en-US" altLang="zh-CN" sz="900" b="1" kern="1200" spc="200" dirty="0" smtClean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chemeClr val="accent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10080" y="1612900"/>
            <a:ext cx="3681095" cy="3975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90310" y="1844675"/>
            <a:ext cx="1952625" cy="3600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TABLE_ENDDRAG_ORIGIN_RECT" val="418*76"/>
  <p:tag name="TABLE_ENDDRAG_RECT" val="444*265*418*76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MWUzNzExMzRlYTU3MWVhMzg4Y2Y0NTllNTZhMDBiOGIifQ=="/>
</p:tagLst>
</file>

<file path=ppt/theme/theme1.xml><?xml version="1.0" encoding="utf-8"?>
<a:theme xmlns:a="http://schemas.openxmlformats.org/drawingml/2006/main" name="SOTOS Template 2016 v1 0">
  <a:themeElements>
    <a:clrScheme name="Blank 1">
      <a:dk1>
        <a:srgbClr val="000000"/>
      </a:dk1>
      <a:lt1>
        <a:srgbClr val="FFFFFF"/>
      </a:lt1>
      <a:dk2>
        <a:srgbClr val="FFFFFF"/>
      </a:dk2>
      <a:lt2>
        <a:srgbClr val="999999"/>
      </a:lt2>
      <a:accent1>
        <a:srgbClr val="D6EBF6"/>
      </a:accent1>
      <a:accent2>
        <a:srgbClr val="83C2E5"/>
      </a:accent2>
      <a:accent3>
        <a:srgbClr val="FFFFFF"/>
      </a:accent3>
      <a:accent4>
        <a:srgbClr val="000000"/>
      </a:accent4>
      <a:accent5>
        <a:srgbClr val="E8F3FA"/>
      </a:accent5>
      <a:accent6>
        <a:srgbClr val="76B0CF"/>
      </a:accent6>
      <a:hlink>
        <a:srgbClr val="288FC8"/>
      </a:hlink>
      <a:folHlink>
        <a:srgbClr val="006699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FFFFFF"/>
        </a:dk2>
        <a:lt2>
          <a:srgbClr val="999999"/>
        </a:lt2>
        <a:accent1>
          <a:srgbClr val="D6EBF6"/>
        </a:accent1>
        <a:accent2>
          <a:srgbClr val="83C2E5"/>
        </a:accent2>
        <a:accent3>
          <a:srgbClr val="FFFFFF"/>
        </a:accent3>
        <a:accent4>
          <a:srgbClr val="000000"/>
        </a:accent4>
        <a:accent5>
          <a:srgbClr val="E8F3FA"/>
        </a:accent5>
        <a:accent6>
          <a:srgbClr val="76B0CF"/>
        </a:accent6>
        <a:hlink>
          <a:srgbClr val="288FC8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WPS 演示</Application>
  <PresentationFormat>自定义</PresentationFormat>
  <Paragraphs>29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 Light</vt:lpstr>
      <vt:lpstr>微软雅黑</vt:lpstr>
      <vt:lpstr>Garamond</vt:lpstr>
      <vt:lpstr>Arial Unicode MS</vt:lpstr>
      <vt:lpstr>Calibri</vt:lpstr>
      <vt:lpstr>SOTOS Template 2016 v1 0</vt:lpstr>
      <vt:lpstr>头枕杆圆角定义</vt:lpstr>
      <vt:lpstr>目录</vt:lpstr>
      <vt:lpstr>设计要求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Sotos</cp:lastModifiedBy>
  <cp:revision>945</cp:revision>
  <cp:lastPrinted>2016-09-01T05:28:00Z</cp:lastPrinted>
  <dcterms:created xsi:type="dcterms:W3CDTF">2016-08-01T08:50:00Z</dcterms:created>
  <dcterms:modified xsi:type="dcterms:W3CDTF">2023-11-27T05:18:24Z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5210792-6e5f-4945-9946-e33b2c1b77aa_Enabled">
    <vt:lpwstr>True</vt:lpwstr>
  </property>
  <property fmtid="{D5CDD505-2E9C-101B-9397-08002B2CF9AE}" pid="3" name="MSIP_Label_f5210792-6e5f-4945-9946-e33b2c1b77aa_SiteId">
    <vt:lpwstr>21f195bc-13e5-4339-82ea-ef8b8ecdd0a9</vt:lpwstr>
  </property>
  <property fmtid="{D5CDD505-2E9C-101B-9397-08002B2CF9AE}" pid="4" name="MSIP_Label_f5210792-6e5f-4945-9946-e33b2c1b77aa_Ref">
    <vt:lpwstr>https://api.informationprotection.azure.com/api/21f195bc-13e5-4339-82ea-ef8b8ecdd0a9</vt:lpwstr>
  </property>
  <property fmtid="{D5CDD505-2E9C-101B-9397-08002B2CF9AE}" pid="5" name="MSIP_Label_f5210792-6e5f-4945-9946-e33b2c1b77aa_SetBy">
    <vt:lpwstr>amaoj6@adient.com</vt:lpwstr>
  </property>
  <property fmtid="{D5CDD505-2E9C-101B-9397-08002B2CF9AE}" pid="6" name="MSIP_Label_f5210792-6e5f-4945-9946-e33b2c1b77aa_SetDate">
    <vt:lpwstr>2018-04-26T14:21:10.1089451+08:00</vt:lpwstr>
  </property>
  <property fmtid="{D5CDD505-2E9C-101B-9397-08002B2CF9AE}" pid="7" name="MSIP_Label_f5210792-6e5f-4945-9946-e33b2c1b77aa_Name">
    <vt:lpwstr>Internal</vt:lpwstr>
  </property>
  <property fmtid="{D5CDD505-2E9C-101B-9397-08002B2CF9AE}" pid="8" name="MSIP_Label_f5210792-6e5f-4945-9946-e33b2c1b77aa_Application">
    <vt:lpwstr>Microsoft Azure Information Protection</vt:lpwstr>
  </property>
  <property fmtid="{D5CDD505-2E9C-101B-9397-08002B2CF9AE}" pid="9" name="MSIP_Label_f5210792-6e5f-4945-9946-e33b2c1b77aa_Extended_MSFT_Method">
    <vt:lpwstr>Automatic</vt:lpwstr>
  </property>
  <property fmtid="{D5CDD505-2E9C-101B-9397-08002B2CF9AE}" pid="10" name="MSIP_Label_060af1b5-247a-4e2a-8e9e-2e59686e7457_Enabled">
    <vt:lpwstr>True</vt:lpwstr>
  </property>
  <property fmtid="{D5CDD505-2E9C-101B-9397-08002B2CF9AE}" pid="11" name="MSIP_Label_060af1b5-247a-4e2a-8e9e-2e59686e7457_SiteId">
    <vt:lpwstr>21f195bc-13e5-4339-82ea-ef8b8ecdd0a9</vt:lpwstr>
  </property>
  <property fmtid="{D5CDD505-2E9C-101B-9397-08002B2CF9AE}" pid="12" name="MSIP_Label_060af1b5-247a-4e2a-8e9e-2e59686e7457_Ref">
    <vt:lpwstr>https://api.informationprotection.azure.com/api/21f195bc-13e5-4339-82ea-ef8b8ecdd0a9</vt:lpwstr>
  </property>
  <property fmtid="{D5CDD505-2E9C-101B-9397-08002B2CF9AE}" pid="13" name="MSIP_Label_060af1b5-247a-4e2a-8e9e-2e59686e7457_SetBy">
    <vt:lpwstr>amaoj6@adient.com</vt:lpwstr>
  </property>
  <property fmtid="{D5CDD505-2E9C-101B-9397-08002B2CF9AE}" pid="14" name="MSIP_Label_060af1b5-247a-4e2a-8e9e-2e59686e7457_SetDate">
    <vt:lpwstr>2018-04-26T14:21:10.1089451+08:00</vt:lpwstr>
  </property>
  <property fmtid="{D5CDD505-2E9C-101B-9397-08002B2CF9AE}" pid="15" name="MSIP_Label_060af1b5-247a-4e2a-8e9e-2e59686e7457_Name">
    <vt:lpwstr>Yanfeng Adient-INTERNAL</vt:lpwstr>
  </property>
  <property fmtid="{D5CDD505-2E9C-101B-9397-08002B2CF9AE}" pid="16" name="MSIP_Label_060af1b5-247a-4e2a-8e9e-2e59686e7457_Application">
    <vt:lpwstr>Microsoft Azure Information Protection</vt:lpwstr>
  </property>
  <property fmtid="{D5CDD505-2E9C-101B-9397-08002B2CF9AE}" pid="17" name="MSIP_Label_060af1b5-247a-4e2a-8e9e-2e59686e7457_Extended_MSFT_Method">
    <vt:lpwstr>Automatic</vt:lpwstr>
  </property>
  <property fmtid="{D5CDD505-2E9C-101B-9397-08002B2CF9AE}" pid="18" name="MSIP_Label_060af1b5-247a-4e2a-8e9e-2e59686e7457_Parent">
    <vt:lpwstr>f5210792-6e5f-4945-9946-e33b2c1b77aa</vt:lpwstr>
  </property>
  <property fmtid="{D5CDD505-2E9C-101B-9397-08002B2CF9AE}" pid="19" name="Sensitivity">
    <vt:lpwstr>Internal Yanfeng Adient-INTERNAL</vt:lpwstr>
  </property>
  <property fmtid="{D5CDD505-2E9C-101B-9397-08002B2CF9AE}" pid="20" name="ICV">
    <vt:lpwstr>12DF9BBED60342DBB07EFE9B4C7960E1_12</vt:lpwstr>
  </property>
  <property fmtid="{D5CDD505-2E9C-101B-9397-08002B2CF9AE}" pid="21" name="KSOProductBuildVer">
    <vt:lpwstr>2052-12.1.0.15990</vt:lpwstr>
  </property>
</Properties>
</file>